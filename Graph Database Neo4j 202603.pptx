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1" r:id="rId6"/>
    <p:sldId id="262" r:id="rId7"/>
    <p:sldId id="263" r:id="rId8"/>
    <p:sldId id="264" r:id="rId9"/>
    <p:sldId id="260" r:id="rId10"/>
    <p:sldId id="267" r:id="rId11"/>
    <p:sldId id="309" r:id="rId12"/>
    <p:sldId id="311" r:id="rId13"/>
    <p:sldId id="310" r:id="rId14"/>
    <p:sldId id="312" r:id="rId15"/>
    <p:sldId id="313" r:id="rId16"/>
    <p:sldId id="314" r:id="rId17"/>
    <p:sldId id="297" r:id="rId18"/>
    <p:sldId id="298" r:id="rId19"/>
    <p:sldId id="299" r:id="rId20"/>
    <p:sldId id="300" r:id="rId21"/>
    <p:sldId id="302" r:id="rId22"/>
    <p:sldId id="286" r:id="rId23"/>
    <p:sldId id="285" r:id="rId24"/>
    <p:sldId id="289" r:id="rId25"/>
    <p:sldId id="290" r:id="rId26"/>
    <p:sldId id="287" r:id="rId27"/>
    <p:sldId id="307" r:id="rId28"/>
    <p:sldId id="288" r:id="rId29"/>
    <p:sldId id="306" r:id="rId30"/>
    <p:sldId id="273" r:id="rId31"/>
    <p:sldId id="308" r:id="rId32"/>
    <p:sldId id="25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46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k Dai" userId="93e5cb20015ac7c1" providerId="LiveId" clId="{1310D44B-5B57-419D-964B-2F1C38CC9316}"/>
    <pc:docChg chg="modSld">
      <pc:chgData name="Zack Dai" userId="93e5cb20015ac7c1" providerId="LiveId" clId="{1310D44B-5B57-419D-964B-2F1C38CC9316}" dt="2026-03-07T19:55:08.770" v="3" actId="20577"/>
      <pc:docMkLst>
        <pc:docMk/>
      </pc:docMkLst>
      <pc:sldChg chg="modSp mod">
        <pc:chgData name="Zack Dai" userId="93e5cb20015ac7c1" providerId="LiveId" clId="{1310D44B-5B57-419D-964B-2F1C38CC9316}" dt="2026-03-07T19:55:08.770" v="3" actId="20577"/>
        <pc:sldMkLst>
          <pc:docMk/>
          <pc:sldMk cId="461011245" sldId="256"/>
        </pc:sldMkLst>
        <pc:spChg chg="mod">
          <ac:chgData name="Zack Dai" userId="93e5cb20015ac7c1" providerId="LiveId" clId="{1310D44B-5B57-419D-964B-2F1C38CC9316}" dt="2026-03-07T19:55:08.770" v="3" actId="20577"/>
          <ac:spMkLst>
            <pc:docMk/>
            <pc:sldMk cId="461011245" sldId="256"/>
            <ac:spMk id="4" creationId="{11E5A73F-5FE3-B9E8-D81C-1DDA1B89FB3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Goodman-School/GraphDatabase/blob/main/queries/loadnorthwind.cypher" TargetMode="External"/><Relationship Id="rId1" Type="http://schemas.openxmlformats.org/officeDocument/2006/relationships/hyperlink" Target="https://data-importer.neo4j.io/versions/latest/" TargetMode="Externa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importer.neo4j.io/versions/latest/" TargetMode="External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hyperlink" Target="https://github.com/Goodman-School/GraphDatabase/blob/main/queries/loadnorthwind.cypher" TargetMode="Externa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5F9048-FD25-4AE6-A8A4-447B09C216A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1AB05D-E9E7-468F-B7C3-D576D74EC94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/>
            <a:t>Purge database:</a:t>
          </a:r>
          <a:endParaRPr lang="en-US"/>
        </a:p>
      </dgm:t>
    </dgm:pt>
    <dgm:pt modelId="{F08BC4B1-4234-4D55-9AF7-60119BFC9133}" type="parTrans" cxnId="{FEBA5A3F-4B9B-4C5D-842A-4111CF38ED5F}">
      <dgm:prSet/>
      <dgm:spPr/>
      <dgm:t>
        <a:bodyPr/>
        <a:lstStyle/>
        <a:p>
          <a:endParaRPr lang="en-US"/>
        </a:p>
      </dgm:t>
    </dgm:pt>
    <dgm:pt modelId="{9FA977CD-ABFB-4FA9-B1EC-E7909B8BD2B6}" type="sibTrans" cxnId="{FEBA5A3F-4B9B-4C5D-842A-4111CF38ED5F}">
      <dgm:prSet/>
      <dgm:spPr/>
      <dgm:t>
        <a:bodyPr/>
        <a:lstStyle/>
        <a:p>
          <a:endParaRPr lang="en-US"/>
        </a:p>
      </dgm:t>
    </dgm:pt>
    <dgm:pt modelId="{80C8A80A-AF4D-450E-B5A0-6932D3E2418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>
              <a:hlinkClick xmlns:r="http://schemas.openxmlformats.org/officeDocument/2006/relationships" r:id="rId1"/>
            </a:rPr>
            <a:t>https://github.com/Goodman-School/GraphDatabase/blob/main/queries/purgedb.cypher</a:t>
          </a:r>
          <a:endParaRPr lang="en-US"/>
        </a:p>
      </dgm:t>
    </dgm:pt>
    <dgm:pt modelId="{0A5B1BBF-D1CE-44EA-8B42-1C1549872DB5}" type="parTrans" cxnId="{55D3C928-92D9-495A-80DE-B7491E35FA29}">
      <dgm:prSet/>
      <dgm:spPr/>
      <dgm:t>
        <a:bodyPr/>
        <a:lstStyle/>
        <a:p>
          <a:endParaRPr lang="en-US"/>
        </a:p>
      </dgm:t>
    </dgm:pt>
    <dgm:pt modelId="{FC83E3EC-8965-44B3-B5F1-939F46C742A0}" type="sibTrans" cxnId="{55D3C928-92D9-495A-80DE-B7491E35FA29}">
      <dgm:prSet/>
      <dgm:spPr/>
      <dgm:t>
        <a:bodyPr/>
        <a:lstStyle/>
        <a:p>
          <a:endParaRPr lang="en-US"/>
        </a:p>
      </dgm:t>
    </dgm:pt>
    <dgm:pt modelId="{E48EDF15-82C9-4842-854F-507D7A2C81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/>
            <a:t>Load data:</a:t>
          </a:r>
          <a:endParaRPr lang="en-US"/>
        </a:p>
      </dgm:t>
    </dgm:pt>
    <dgm:pt modelId="{AE6625A1-7353-4293-8C96-D8517A8AF0DC}" type="parTrans" cxnId="{687A9D37-9A67-4B39-BA1D-EC3F69C291C3}">
      <dgm:prSet/>
      <dgm:spPr/>
      <dgm:t>
        <a:bodyPr/>
        <a:lstStyle/>
        <a:p>
          <a:endParaRPr lang="en-US"/>
        </a:p>
      </dgm:t>
    </dgm:pt>
    <dgm:pt modelId="{16374DB3-8E34-46FD-98D6-929B3858A8DB}" type="sibTrans" cxnId="{687A9D37-9A67-4B39-BA1D-EC3F69C291C3}">
      <dgm:prSet/>
      <dgm:spPr/>
      <dgm:t>
        <a:bodyPr/>
        <a:lstStyle/>
        <a:p>
          <a:endParaRPr lang="en-US"/>
        </a:p>
      </dgm:t>
    </dgm:pt>
    <dgm:pt modelId="{4ABF1E4E-1719-4D2D-92E1-DD43B84A91A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hlinkClick xmlns:r="http://schemas.openxmlformats.org/officeDocument/2006/relationships" r:id="rId2"/>
            </a:rPr>
            <a:t>https://github.com/Goodman-School/GraphDatabase/blob/main/queries/loadnorthwind.cypher</a:t>
          </a:r>
          <a:endParaRPr lang="en-US" dirty="0"/>
        </a:p>
      </dgm:t>
    </dgm:pt>
    <dgm:pt modelId="{28491846-8295-4A16-B4E2-714E2D2D0525}" type="parTrans" cxnId="{47DF805F-198A-4F1F-A441-784AF635D9FA}">
      <dgm:prSet/>
      <dgm:spPr/>
      <dgm:t>
        <a:bodyPr/>
        <a:lstStyle/>
        <a:p>
          <a:endParaRPr lang="en-US"/>
        </a:p>
      </dgm:t>
    </dgm:pt>
    <dgm:pt modelId="{6907A0A6-0245-46DC-87FB-CD12DEFAE1AD}" type="sibTrans" cxnId="{47DF805F-198A-4F1F-A441-784AF635D9FA}">
      <dgm:prSet/>
      <dgm:spPr/>
      <dgm:t>
        <a:bodyPr/>
        <a:lstStyle/>
        <a:p>
          <a:endParaRPr lang="en-US"/>
        </a:p>
      </dgm:t>
    </dgm:pt>
    <dgm:pt modelId="{D0412AEA-5CA6-4190-99E6-25C0763A955B}" type="pres">
      <dgm:prSet presAssocID="{1C5F9048-FD25-4AE6-A8A4-447B09C216A1}" presName="root" presStyleCnt="0">
        <dgm:presLayoutVars>
          <dgm:dir/>
          <dgm:resizeHandles val="exact"/>
        </dgm:presLayoutVars>
      </dgm:prSet>
      <dgm:spPr/>
    </dgm:pt>
    <dgm:pt modelId="{0167F287-4F64-40CD-AF73-49822267784F}" type="pres">
      <dgm:prSet presAssocID="{6E1AB05D-E9E7-468F-B7C3-D576D74EC945}" presName="compNode" presStyleCnt="0"/>
      <dgm:spPr/>
    </dgm:pt>
    <dgm:pt modelId="{9572D1F9-9342-4FEE-9793-E5B7041E808E}" type="pres">
      <dgm:prSet presAssocID="{6E1AB05D-E9E7-468F-B7C3-D576D74EC945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3E440B3-CA97-4242-A440-CB4B31EC31B1}" type="pres">
      <dgm:prSet presAssocID="{6E1AB05D-E9E7-468F-B7C3-D576D74EC945}" presName="iconSpace" presStyleCnt="0"/>
      <dgm:spPr/>
    </dgm:pt>
    <dgm:pt modelId="{2FC01B37-1874-4460-A265-47BFD6218EC5}" type="pres">
      <dgm:prSet presAssocID="{6E1AB05D-E9E7-468F-B7C3-D576D74EC945}" presName="parTx" presStyleLbl="revTx" presStyleIdx="0" presStyleCnt="4">
        <dgm:presLayoutVars>
          <dgm:chMax val="0"/>
          <dgm:chPref val="0"/>
        </dgm:presLayoutVars>
      </dgm:prSet>
      <dgm:spPr/>
    </dgm:pt>
    <dgm:pt modelId="{CD23E160-E9B6-4049-8626-0F55FCE6F9F3}" type="pres">
      <dgm:prSet presAssocID="{6E1AB05D-E9E7-468F-B7C3-D576D74EC945}" presName="txSpace" presStyleCnt="0"/>
      <dgm:spPr/>
    </dgm:pt>
    <dgm:pt modelId="{32E8CB8A-B117-4073-BC17-BB6DD6973088}" type="pres">
      <dgm:prSet presAssocID="{6E1AB05D-E9E7-468F-B7C3-D576D74EC945}" presName="desTx" presStyleLbl="revTx" presStyleIdx="1" presStyleCnt="4">
        <dgm:presLayoutVars/>
      </dgm:prSet>
      <dgm:spPr/>
    </dgm:pt>
    <dgm:pt modelId="{7DE714E0-1523-42FC-B783-1E4FFFE6F30D}" type="pres">
      <dgm:prSet presAssocID="{9FA977CD-ABFB-4FA9-B1EC-E7909B8BD2B6}" presName="sibTrans" presStyleCnt="0"/>
      <dgm:spPr/>
    </dgm:pt>
    <dgm:pt modelId="{02BF88F6-04E0-4511-927C-5B9B373F740D}" type="pres">
      <dgm:prSet presAssocID="{E48EDF15-82C9-4842-854F-507D7A2C810D}" presName="compNode" presStyleCnt="0"/>
      <dgm:spPr/>
    </dgm:pt>
    <dgm:pt modelId="{B2D56401-ECD4-46B5-BD68-F11428FF2444}" type="pres">
      <dgm:prSet presAssocID="{E48EDF15-82C9-4842-854F-507D7A2C810D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1B41B73B-720B-4262-9023-E0ACB3BE9A5B}" type="pres">
      <dgm:prSet presAssocID="{E48EDF15-82C9-4842-854F-507D7A2C810D}" presName="iconSpace" presStyleCnt="0"/>
      <dgm:spPr/>
    </dgm:pt>
    <dgm:pt modelId="{830975CF-7F8B-4354-A2FD-DD53B8305799}" type="pres">
      <dgm:prSet presAssocID="{E48EDF15-82C9-4842-854F-507D7A2C810D}" presName="parTx" presStyleLbl="revTx" presStyleIdx="2" presStyleCnt="4">
        <dgm:presLayoutVars>
          <dgm:chMax val="0"/>
          <dgm:chPref val="0"/>
        </dgm:presLayoutVars>
      </dgm:prSet>
      <dgm:spPr/>
    </dgm:pt>
    <dgm:pt modelId="{BE25B7FC-BF46-4582-9CA1-26E0A1E1E8EB}" type="pres">
      <dgm:prSet presAssocID="{E48EDF15-82C9-4842-854F-507D7A2C810D}" presName="txSpace" presStyleCnt="0"/>
      <dgm:spPr/>
    </dgm:pt>
    <dgm:pt modelId="{35EF62F6-CFDA-4682-AA4F-2E7D7E091628}" type="pres">
      <dgm:prSet presAssocID="{E48EDF15-82C9-4842-854F-507D7A2C810D}" presName="desTx" presStyleLbl="revTx" presStyleIdx="3" presStyleCnt="4">
        <dgm:presLayoutVars/>
      </dgm:prSet>
      <dgm:spPr/>
    </dgm:pt>
  </dgm:ptLst>
  <dgm:cxnLst>
    <dgm:cxn modelId="{55D3C928-92D9-495A-80DE-B7491E35FA29}" srcId="{6E1AB05D-E9E7-468F-B7C3-D576D74EC945}" destId="{80C8A80A-AF4D-450E-B5A0-6932D3E24184}" srcOrd="0" destOrd="0" parTransId="{0A5B1BBF-D1CE-44EA-8B42-1C1549872DB5}" sibTransId="{FC83E3EC-8965-44B3-B5F1-939F46C742A0}"/>
    <dgm:cxn modelId="{687A9D37-9A67-4B39-BA1D-EC3F69C291C3}" srcId="{1C5F9048-FD25-4AE6-A8A4-447B09C216A1}" destId="{E48EDF15-82C9-4842-854F-507D7A2C810D}" srcOrd="1" destOrd="0" parTransId="{AE6625A1-7353-4293-8C96-D8517A8AF0DC}" sibTransId="{16374DB3-8E34-46FD-98D6-929B3858A8DB}"/>
    <dgm:cxn modelId="{FEBA5A3F-4B9B-4C5D-842A-4111CF38ED5F}" srcId="{1C5F9048-FD25-4AE6-A8A4-447B09C216A1}" destId="{6E1AB05D-E9E7-468F-B7C3-D576D74EC945}" srcOrd="0" destOrd="0" parTransId="{F08BC4B1-4234-4D55-9AF7-60119BFC9133}" sibTransId="{9FA977CD-ABFB-4FA9-B1EC-E7909B8BD2B6}"/>
    <dgm:cxn modelId="{C980735B-4E47-4BC3-AA44-D40C9420408E}" type="presOf" srcId="{E48EDF15-82C9-4842-854F-507D7A2C810D}" destId="{830975CF-7F8B-4354-A2FD-DD53B8305799}" srcOrd="0" destOrd="0" presId="urn:microsoft.com/office/officeart/2018/2/layout/IconLabelDescriptionList"/>
    <dgm:cxn modelId="{47DF805F-198A-4F1F-A441-784AF635D9FA}" srcId="{E48EDF15-82C9-4842-854F-507D7A2C810D}" destId="{4ABF1E4E-1719-4D2D-92E1-DD43B84A91A2}" srcOrd="0" destOrd="0" parTransId="{28491846-8295-4A16-B4E2-714E2D2D0525}" sibTransId="{6907A0A6-0245-46DC-87FB-CD12DEFAE1AD}"/>
    <dgm:cxn modelId="{8B59F569-9587-4FC9-8777-8A29A312952D}" type="presOf" srcId="{1C5F9048-FD25-4AE6-A8A4-447B09C216A1}" destId="{D0412AEA-5CA6-4190-99E6-25C0763A955B}" srcOrd="0" destOrd="0" presId="urn:microsoft.com/office/officeart/2018/2/layout/IconLabelDescriptionList"/>
    <dgm:cxn modelId="{5CABFC4D-F87D-421F-9D8E-7AF4DC60C654}" type="presOf" srcId="{80C8A80A-AF4D-450E-B5A0-6932D3E24184}" destId="{32E8CB8A-B117-4073-BC17-BB6DD6973088}" srcOrd="0" destOrd="0" presId="urn:microsoft.com/office/officeart/2018/2/layout/IconLabelDescriptionList"/>
    <dgm:cxn modelId="{1207B176-B23C-494A-8C99-9CB9869F69C5}" type="presOf" srcId="{6E1AB05D-E9E7-468F-B7C3-D576D74EC945}" destId="{2FC01B37-1874-4460-A265-47BFD6218EC5}" srcOrd="0" destOrd="0" presId="urn:microsoft.com/office/officeart/2018/2/layout/IconLabelDescriptionList"/>
    <dgm:cxn modelId="{D3761387-F153-4306-B0B7-C042B8DA0E3B}" type="presOf" srcId="{4ABF1E4E-1719-4D2D-92E1-DD43B84A91A2}" destId="{35EF62F6-CFDA-4682-AA4F-2E7D7E091628}" srcOrd="0" destOrd="0" presId="urn:microsoft.com/office/officeart/2018/2/layout/IconLabelDescriptionList"/>
    <dgm:cxn modelId="{59700CD0-9E8A-46B3-9B70-730C413A70DB}" type="presParOf" srcId="{D0412AEA-5CA6-4190-99E6-25C0763A955B}" destId="{0167F287-4F64-40CD-AF73-49822267784F}" srcOrd="0" destOrd="0" presId="urn:microsoft.com/office/officeart/2018/2/layout/IconLabelDescriptionList"/>
    <dgm:cxn modelId="{594DE282-F024-4C60-ABD6-61116A233B6B}" type="presParOf" srcId="{0167F287-4F64-40CD-AF73-49822267784F}" destId="{9572D1F9-9342-4FEE-9793-E5B7041E808E}" srcOrd="0" destOrd="0" presId="urn:microsoft.com/office/officeart/2018/2/layout/IconLabelDescriptionList"/>
    <dgm:cxn modelId="{064925BF-C952-4ED4-8BE7-2AF20B6EC0AF}" type="presParOf" srcId="{0167F287-4F64-40CD-AF73-49822267784F}" destId="{F3E440B3-CA97-4242-A440-CB4B31EC31B1}" srcOrd="1" destOrd="0" presId="urn:microsoft.com/office/officeart/2018/2/layout/IconLabelDescriptionList"/>
    <dgm:cxn modelId="{CE17F289-3368-4F8F-9BFE-509649BCA50A}" type="presParOf" srcId="{0167F287-4F64-40CD-AF73-49822267784F}" destId="{2FC01B37-1874-4460-A265-47BFD6218EC5}" srcOrd="2" destOrd="0" presId="urn:microsoft.com/office/officeart/2018/2/layout/IconLabelDescriptionList"/>
    <dgm:cxn modelId="{F7BB0E30-3A73-4ED2-960B-74B52E513B34}" type="presParOf" srcId="{0167F287-4F64-40CD-AF73-49822267784F}" destId="{CD23E160-E9B6-4049-8626-0F55FCE6F9F3}" srcOrd="3" destOrd="0" presId="urn:microsoft.com/office/officeart/2018/2/layout/IconLabelDescriptionList"/>
    <dgm:cxn modelId="{92327D7D-06C9-4566-8B83-3703D7CF1106}" type="presParOf" srcId="{0167F287-4F64-40CD-AF73-49822267784F}" destId="{32E8CB8A-B117-4073-BC17-BB6DD6973088}" srcOrd="4" destOrd="0" presId="urn:microsoft.com/office/officeart/2018/2/layout/IconLabelDescriptionList"/>
    <dgm:cxn modelId="{D2FBE7DD-915F-4E81-94E3-3B0DF5DB01F8}" type="presParOf" srcId="{D0412AEA-5CA6-4190-99E6-25C0763A955B}" destId="{7DE714E0-1523-42FC-B783-1E4FFFE6F30D}" srcOrd="1" destOrd="0" presId="urn:microsoft.com/office/officeart/2018/2/layout/IconLabelDescriptionList"/>
    <dgm:cxn modelId="{600A4F00-D46F-438B-AE89-4C069BB3A579}" type="presParOf" srcId="{D0412AEA-5CA6-4190-99E6-25C0763A955B}" destId="{02BF88F6-04E0-4511-927C-5B9B373F740D}" srcOrd="2" destOrd="0" presId="urn:microsoft.com/office/officeart/2018/2/layout/IconLabelDescriptionList"/>
    <dgm:cxn modelId="{9500226B-6F3D-496C-8705-195B051501B2}" type="presParOf" srcId="{02BF88F6-04E0-4511-927C-5B9B373F740D}" destId="{B2D56401-ECD4-46B5-BD68-F11428FF2444}" srcOrd="0" destOrd="0" presId="urn:microsoft.com/office/officeart/2018/2/layout/IconLabelDescriptionList"/>
    <dgm:cxn modelId="{49D17F06-E03E-48DA-92F2-DFACE3CBA5E3}" type="presParOf" srcId="{02BF88F6-04E0-4511-927C-5B9B373F740D}" destId="{1B41B73B-720B-4262-9023-E0ACB3BE9A5B}" srcOrd="1" destOrd="0" presId="urn:microsoft.com/office/officeart/2018/2/layout/IconLabelDescriptionList"/>
    <dgm:cxn modelId="{FB6435FE-0664-4B41-9B6C-B41AFD8516C1}" type="presParOf" srcId="{02BF88F6-04E0-4511-927C-5B9B373F740D}" destId="{830975CF-7F8B-4354-A2FD-DD53B8305799}" srcOrd="2" destOrd="0" presId="urn:microsoft.com/office/officeart/2018/2/layout/IconLabelDescriptionList"/>
    <dgm:cxn modelId="{3AC4BF7F-1DB0-4D9E-B0B3-F0B1A9C1BE25}" type="presParOf" srcId="{02BF88F6-04E0-4511-927C-5B9B373F740D}" destId="{BE25B7FC-BF46-4582-9CA1-26E0A1E1E8EB}" srcOrd="3" destOrd="0" presId="urn:microsoft.com/office/officeart/2018/2/layout/IconLabelDescriptionList"/>
    <dgm:cxn modelId="{65FD2FC7-8503-476B-AEC3-3AFDD16574A0}" type="presParOf" srcId="{02BF88F6-04E0-4511-927C-5B9B373F740D}" destId="{35EF62F6-CFDA-4682-AA4F-2E7D7E09162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2D1F9-9342-4FEE-9793-E5B7041E808E}">
      <dsp:nvSpPr>
        <dsp:cNvPr id="0" name=""/>
        <dsp:cNvSpPr/>
      </dsp:nvSpPr>
      <dsp:spPr>
        <a:xfrm>
          <a:off x="568971" y="600106"/>
          <a:ext cx="1509048" cy="1509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01B37-1874-4460-A265-47BFD6218EC5}">
      <dsp:nvSpPr>
        <dsp:cNvPr id="0" name=""/>
        <dsp:cNvSpPr/>
      </dsp:nvSpPr>
      <dsp:spPr>
        <a:xfrm>
          <a:off x="568971" y="2244743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3600" kern="1200"/>
            <a:t>Purge database:</a:t>
          </a:r>
          <a:endParaRPr lang="en-US" sz="3600" kern="1200"/>
        </a:p>
      </dsp:txBody>
      <dsp:txXfrm>
        <a:off x="568971" y="2244743"/>
        <a:ext cx="4311566" cy="646734"/>
      </dsp:txXfrm>
    </dsp:sp>
    <dsp:sp modelId="{32E8CB8A-B117-4073-BC17-BB6DD6973088}">
      <dsp:nvSpPr>
        <dsp:cNvPr id="0" name=""/>
        <dsp:cNvSpPr/>
      </dsp:nvSpPr>
      <dsp:spPr>
        <a:xfrm>
          <a:off x="568971" y="2954543"/>
          <a:ext cx="4311566" cy="796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>
              <a:hlinkClick xmlns:r="http://schemas.openxmlformats.org/officeDocument/2006/relationships" r:id="rId3"/>
            </a:rPr>
            <a:t>https://github.com/Goodman-School/GraphDatabase/blob/main/queries/purgedb.cypher</a:t>
          </a:r>
          <a:endParaRPr lang="en-US" sz="1700" kern="1200"/>
        </a:p>
      </dsp:txBody>
      <dsp:txXfrm>
        <a:off x="568971" y="2954543"/>
        <a:ext cx="4311566" cy="796688"/>
      </dsp:txXfrm>
    </dsp:sp>
    <dsp:sp modelId="{B2D56401-ECD4-46B5-BD68-F11428FF2444}">
      <dsp:nvSpPr>
        <dsp:cNvPr id="0" name=""/>
        <dsp:cNvSpPr/>
      </dsp:nvSpPr>
      <dsp:spPr>
        <a:xfrm>
          <a:off x="5635062" y="600106"/>
          <a:ext cx="1509048" cy="1509048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975CF-7F8B-4354-A2FD-DD53B8305799}">
      <dsp:nvSpPr>
        <dsp:cNvPr id="0" name=""/>
        <dsp:cNvSpPr/>
      </dsp:nvSpPr>
      <dsp:spPr>
        <a:xfrm>
          <a:off x="5635062" y="2244743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3600" kern="1200"/>
            <a:t>Load data:</a:t>
          </a:r>
          <a:endParaRPr lang="en-US" sz="3600" kern="1200"/>
        </a:p>
      </dsp:txBody>
      <dsp:txXfrm>
        <a:off x="5635062" y="2244743"/>
        <a:ext cx="4311566" cy="646734"/>
      </dsp:txXfrm>
    </dsp:sp>
    <dsp:sp modelId="{35EF62F6-CFDA-4682-AA4F-2E7D7E091628}">
      <dsp:nvSpPr>
        <dsp:cNvPr id="0" name=""/>
        <dsp:cNvSpPr/>
      </dsp:nvSpPr>
      <dsp:spPr>
        <a:xfrm>
          <a:off x="5635062" y="2954543"/>
          <a:ext cx="4311566" cy="796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>
              <a:hlinkClick xmlns:r="http://schemas.openxmlformats.org/officeDocument/2006/relationships" r:id="rId6"/>
            </a:rPr>
            <a:t>https://github.com/Goodman-School/GraphDatabase/blob/main/queries/loadnorthwind.cypher</a:t>
          </a:r>
          <a:endParaRPr lang="en-US" sz="1700" kern="1200" dirty="0"/>
        </a:p>
      </dsp:txBody>
      <dsp:txXfrm>
        <a:off x="5635062" y="2954543"/>
        <a:ext cx="4311566" cy="796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15E2-B230-4305-BE6B-01C7CCAA6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DE75F-D493-4421-95A3-3A39458BF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6967-BE66-4F3C-97D9-A61629CB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A67A0-0B06-4A95-82B9-77CC3876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0552-FB97-4523-8831-647B9C4D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8C77-56B7-47B5-92EB-C078E8E6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B11CF-B8D0-4A7C-B473-B816DA6DF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E564-1A31-45C1-81FF-44300456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E4CD-59AC-4F5E-B7EC-8DCBD1F8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0D367-C38F-4D64-99B4-512640FD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4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D979-17D1-44AC-8122-F718A73F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924E1-07D0-4EC8-8A0E-17E91393B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2844B-D477-4AFF-B20A-42E23DB7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E8F5B-7DC2-46D4-A5E6-C0F2B6D3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C93F3-C984-47EA-A6AD-0ACFBED1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3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E621-7449-4714-A61D-CDBA07D0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C0C2-42E4-474B-B07E-161C54526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64724-941F-47BE-BF63-6743ED4AD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7CAFD-929E-45C8-8103-37ED57AE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F4211-6824-4C26-AE9D-1221293C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C6DE3-3948-44AC-8B76-1F703E70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BAD4-B94D-4FD0-81A1-3181EB5EE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5F97E-8C98-4D17-9532-D5C71ADDF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9584C-9F22-4A99-B2CC-B41F1A57C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D2180-5A6E-4A11-A877-36D67C575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2CD94-45B1-4593-8B44-3A3662781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8F799-BC0B-4C80-A587-618DF137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4F7D3-CA4E-4358-A338-C652026A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7EF65-D7AB-4381-9875-73CC180E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0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C0E5-B38A-4AFE-8B57-09002A69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D0101E-B243-49E6-A740-5D703DB2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BE114-A7B2-40D8-8F9D-48B7A798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926A6-BFA1-46F4-9CC0-6516E34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8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1F4228-C200-4B5D-9624-95418D0A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BE171-CA07-4DE9-88C2-D4AF26CE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80A2D-ECEF-4975-B1A8-82193C0F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3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6355-50BF-4107-AB88-1BF855B1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AE519-FDB0-49DE-AEC1-E0C47298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7A948-0E41-4B10-BD5B-A33DF9CF2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D3962-F575-4D39-8EBA-03CD23EA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60F3A-F68B-4FB0-AE64-845BB486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7D8A8-D760-47E8-9B65-CABE2C53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4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BA64-061C-4C61-9F4B-B59135C92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FA4B8-74D1-426D-AC79-97802226B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2E04A-69A0-449A-B4A9-A49D7F191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01ECD-A895-4AAD-95C7-5FD8288A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5A903-F629-4870-B876-26D95DFD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F0C65-690C-4A8D-811B-8FEDF1B0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1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3872-9F01-4E6D-ACBE-D0690616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B7811-5F61-4E59-92C5-9E85B4B9E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7C4E-5BDE-4F94-B3F2-54600E17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00A02-37BD-4269-BFE5-5FC918B5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66376-E4D6-46B3-8C33-2CDEDFF6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0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0D0F2-CBF2-4FBF-AB1E-975841967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39E8E-BD5C-430F-9303-CFBA47817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F81A7-07EA-4C86-8E00-7895FEE8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742D-C04D-4B70-B4CA-FF4AFC58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7A5E5-22A4-45DA-8CE6-C076376B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368A3-A19D-4B92-BD19-B7C91E615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E458-E5B8-4DD7-BC18-095BDDB67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8371-0C81-40A6-8FC5-1D8CCD9F7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A4A48-B1D7-40CA-AB46-D7D34A97B8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5037-E471-4CAA-9A25-3F3DDDA06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EB978-4FBF-4430-B349-BE6CE3D7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dman-School/GraphDatabase/blob/main/Graph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52.70.34.0:7474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eo4j.com/sandbox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3.239.62.47:7474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neo4j.com/docs/cypher-manual/curren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dman-School/GraphDatabase/raw/main/data/W3Cnorthwind.zip" TargetMode="External"/><Relationship Id="rId2" Type="http://schemas.openxmlformats.org/officeDocument/2006/relationships/hyperlink" Target="https://data-importer.neo4j.io/versions/late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-importer.neo4j.io/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sandbox.neo4j.com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neo4j.com/developer/guide-importing-data-and-etl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raphacademy.neo4j.com/?ref=sandbox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neo4j.com/sandbox/" TargetMode="External"/><Relationship Id="rId2" Type="http://schemas.openxmlformats.org/officeDocument/2006/relationships/hyperlink" Target="https://neo4j.com/download/?ref=produc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o4j.com/graphacademy/neo4j-certification/" TargetMode="External"/><Relationship Id="rId5" Type="http://schemas.openxmlformats.org/officeDocument/2006/relationships/hyperlink" Target="https://neo4j.com/books/" TargetMode="External"/><Relationship Id="rId4" Type="http://schemas.openxmlformats.org/officeDocument/2006/relationships/hyperlink" Target="https://data-importer.neo4j.io/versions/la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ABDD9-2EB2-4DA3-B15A-B1083259B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918" y="337522"/>
            <a:ext cx="9105746" cy="2991416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Graph Database --Neo4j</a:t>
            </a:r>
            <a:br>
              <a:rPr lang="en-US" dirty="0"/>
            </a:br>
            <a:r>
              <a:rPr lang="en-US" sz="4000" dirty="0"/>
              <a:t>Updated 2025-11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F4F1A-4969-437C-BEAF-E9E7AC570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4096" y="3842932"/>
            <a:ext cx="4167115" cy="2163551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Zack Dai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Neo4j - Wikipedia">
            <a:extLst>
              <a:ext uri="{FF2B5EF4-FFF2-40B4-BE49-F238E27FC236}">
                <a16:creationId xmlns:a16="http://schemas.microsoft.com/office/drawing/2014/main" id="{AB7CDC2A-98EA-CC15-FA50-4BFFA6E82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1503" y="3137463"/>
            <a:ext cx="3217333" cy="120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E5A73F-5FE3-B9E8-D81C-1DDA1B89FB39}"/>
              </a:ext>
            </a:extLst>
          </p:cNvPr>
          <p:cNvSpPr txBox="1"/>
          <p:nvPr/>
        </p:nvSpPr>
        <p:spPr>
          <a:xfrm>
            <a:off x="1025037" y="6006482"/>
            <a:ext cx="10332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Download this PPT </a:t>
            </a:r>
            <a:r>
              <a:rPr lang="en-CA" i="1" dirty="0" err="1"/>
              <a:t>sildes</a:t>
            </a:r>
            <a:r>
              <a:rPr lang="en-CA" i="1" dirty="0"/>
              <a:t> from </a:t>
            </a:r>
            <a:r>
              <a:rPr lang="en-CA" i="1" dirty="0" err="1"/>
              <a:t>Github</a:t>
            </a:r>
            <a:r>
              <a:rPr lang="en-CA" i="1" dirty="0"/>
              <a:t>:</a:t>
            </a:r>
          </a:p>
          <a:p>
            <a:r>
              <a:rPr lang="en-CA" i="1" dirty="0"/>
              <a:t>   </a:t>
            </a:r>
            <a:r>
              <a:rPr lang="en-CA" i="1" dirty="0">
                <a:hlinkClick r:id="rId3"/>
              </a:rPr>
              <a:t>https://github.com/Goodman-School/GraphDatabase/blob/main/Graph</a:t>
            </a:r>
            <a:r>
              <a:rPr lang="en-CA" i="1" dirty="0"/>
              <a:t> Database%20Neo4j%202603.pptx</a:t>
            </a:r>
          </a:p>
        </p:txBody>
      </p:sp>
    </p:spTree>
    <p:extLst>
      <p:ext uri="{BB962C8B-B14F-4D97-AF65-F5344CB8AC3E}">
        <p14:creationId xmlns:p14="http://schemas.microsoft.com/office/powerpoint/2010/main" val="46101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E252B-BFE0-4797-8C22-54A5F4EB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en-US" sz="400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4DD4-96CB-465E-B843-9A2862134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en-US" sz="2000"/>
              <a:t>Part1 Graph Database Introduction</a:t>
            </a:r>
          </a:p>
          <a:p>
            <a:pPr lvl="1"/>
            <a:r>
              <a:rPr lang="en-US" sz="2000"/>
              <a:t>Graph Database</a:t>
            </a:r>
          </a:p>
          <a:p>
            <a:pPr lvl="1"/>
            <a:r>
              <a:rPr lang="en-US" sz="2000"/>
              <a:t>Comparison SQL with Neo4j</a:t>
            </a:r>
          </a:p>
          <a:p>
            <a:pPr lvl="1"/>
            <a:r>
              <a:rPr lang="en-US" sz="2000"/>
              <a:t>Use case of Neo4j</a:t>
            </a:r>
          </a:p>
          <a:p>
            <a:r>
              <a:rPr lang="en-US" sz="2000"/>
              <a:t>Part2 Practice with Neo4j</a:t>
            </a:r>
          </a:p>
          <a:p>
            <a:pPr lvl="1"/>
            <a:r>
              <a:rPr lang="en-US" sz="2000"/>
              <a:t>Neo4j playground online</a:t>
            </a:r>
          </a:p>
          <a:p>
            <a:pPr lvl="1"/>
            <a:r>
              <a:rPr lang="en-US" sz="2000"/>
              <a:t>Import data to Neo4j</a:t>
            </a:r>
          </a:p>
          <a:p>
            <a:pPr lvl="1"/>
            <a:r>
              <a:rPr lang="en-US" sz="2000"/>
              <a:t>Basic Queries</a:t>
            </a:r>
          </a:p>
          <a:p>
            <a:pPr lvl="1"/>
            <a:r>
              <a:rPr lang="en-US" sz="2000"/>
              <a:t>Advanced usage</a:t>
            </a:r>
          </a:p>
          <a:p>
            <a:r>
              <a:rPr lang="en-US" sz="2000"/>
              <a:t>Appendix: Learning Resources</a:t>
            </a:r>
          </a:p>
          <a:p>
            <a:pPr lvl="1"/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1457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 Database Introduction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413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4BDC5-7F86-4B8D-85A5-704A4BFE1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1327438"/>
            <a:ext cx="6247722" cy="1461778"/>
          </a:xfrm>
        </p:spPr>
        <p:txBody>
          <a:bodyPr anchor="t">
            <a:normAutofit/>
          </a:bodyPr>
          <a:lstStyle/>
          <a:p>
            <a:r>
              <a:rPr lang="en-US" dirty="0"/>
              <a:t>Graph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CED0D-2412-4833-B0C0-E69A2F542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4" y="2946169"/>
            <a:ext cx="6247722" cy="3088871"/>
          </a:xfrm>
        </p:spPr>
        <p:txBody>
          <a:bodyPr>
            <a:normAutofit/>
          </a:bodyPr>
          <a:lstStyle/>
          <a:p>
            <a:r>
              <a:rPr lang="en-US" sz="2400"/>
              <a:t>A graph is composed of two elements: a node and a relationship.</a:t>
            </a:r>
          </a:p>
          <a:p>
            <a:r>
              <a:rPr lang="en-US" sz="2400"/>
              <a:t> Each node represents an entity (a person, place, thing, category or other piece of data), and each relationship represents how two nodes are associated.</a:t>
            </a:r>
          </a:p>
          <a:p>
            <a:endParaRPr lang="en-US" sz="24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F06C9D3-00DF-4B71-AE88-29075022F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9545" y="1333265"/>
            <a:ext cx="2926988" cy="2594434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300F7B2-2FBB-4B65-B588-633176602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575032" y="1327438"/>
            <a:ext cx="675351" cy="595380"/>
          </a:xfrm>
          <a:custGeom>
            <a:avLst/>
            <a:gdLst>
              <a:gd name="T0" fmla="*/ 225 w 785"/>
              <a:gd name="T1" fmla="*/ 692 h 692"/>
              <a:gd name="T2" fmla="*/ 177 w 785"/>
              <a:gd name="T3" fmla="*/ 665 h 692"/>
              <a:gd name="T4" fmla="*/ 9 w 785"/>
              <a:gd name="T5" fmla="*/ 374 h 692"/>
              <a:gd name="T6" fmla="*/ 9 w 785"/>
              <a:gd name="T7" fmla="*/ 318 h 692"/>
              <a:gd name="T8" fmla="*/ 177 w 785"/>
              <a:gd name="T9" fmla="*/ 27 h 692"/>
              <a:gd name="T10" fmla="*/ 225 w 785"/>
              <a:gd name="T11" fmla="*/ 0 h 692"/>
              <a:gd name="T12" fmla="*/ 561 w 785"/>
              <a:gd name="T13" fmla="*/ 0 h 692"/>
              <a:gd name="T14" fmla="*/ 609 w 785"/>
              <a:gd name="T15" fmla="*/ 27 h 692"/>
              <a:gd name="T16" fmla="*/ 777 w 785"/>
              <a:gd name="T17" fmla="*/ 318 h 692"/>
              <a:gd name="T18" fmla="*/ 777 w 785"/>
              <a:gd name="T19" fmla="*/ 374 h 692"/>
              <a:gd name="T20" fmla="*/ 609 w 785"/>
              <a:gd name="T21" fmla="*/ 665 h 692"/>
              <a:gd name="T22" fmla="*/ 561 w 785"/>
              <a:gd name="T23" fmla="*/ 692 h 692"/>
              <a:gd name="T24" fmla="*/ 225 w 785"/>
              <a:gd name="T25" fmla="*/ 692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5" h="692">
                <a:moveTo>
                  <a:pt x="225" y="692"/>
                </a:moveTo>
                <a:cubicBezTo>
                  <a:pt x="207" y="692"/>
                  <a:pt x="185" y="680"/>
                  <a:pt x="177" y="665"/>
                </a:cubicBezTo>
                <a:cubicBezTo>
                  <a:pt x="9" y="374"/>
                  <a:pt x="9" y="374"/>
                  <a:pt x="9" y="374"/>
                </a:cubicBezTo>
                <a:cubicBezTo>
                  <a:pt x="0" y="358"/>
                  <a:pt x="0" y="334"/>
                  <a:pt x="9" y="318"/>
                </a:cubicBezTo>
                <a:cubicBezTo>
                  <a:pt x="177" y="27"/>
                  <a:pt x="177" y="27"/>
                  <a:pt x="177" y="27"/>
                </a:cubicBezTo>
                <a:cubicBezTo>
                  <a:pt x="185" y="12"/>
                  <a:pt x="207" y="0"/>
                  <a:pt x="225" y="0"/>
                </a:cubicBezTo>
                <a:cubicBezTo>
                  <a:pt x="561" y="0"/>
                  <a:pt x="561" y="0"/>
                  <a:pt x="561" y="0"/>
                </a:cubicBezTo>
                <a:cubicBezTo>
                  <a:pt x="578" y="0"/>
                  <a:pt x="600" y="12"/>
                  <a:pt x="609" y="27"/>
                </a:cubicBezTo>
                <a:cubicBezTo>
                  <a:pt x="777" y="318"/>
                  <a:pt x="777" y="318"/>
                  <a:pt x="777" y="318"/>
                </a:cubicBezTo>
                <a:cubicBezTo>
                  <a:pt x="785" y="334"/>
                  <a:pt x="785" y="358"/>
                  <a:pt x="777" y="374"/>
                </a:cubicBezTo>
                <a:cubicBezTo>
                  <a:pt x="609" y="665"/>
                  <a:pt x="609" y="665"/>
                  <a:pt x="609" y="665"/>
                </a:cubicBezTo>
                <a:cubicBezTo>
                  <a:pt x="600" y="680"/>
                  <a:pt x="578" y="692"/>
                  <a:pt x="561" y="692"/>
                </a:cubicBezTo>
                <a:lnTo>
                  <a:pt x="225" y="692"/>
                </a:lnTo>
                <a:close/>
              </a:path>
            </a:pathLst>
          </a:custGeom>
          <a:noFill/>
          <a:ln w="28575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EFA5A327-531A-495C-BCA7-27F04811A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2922" y="1075612"/>
            <a:ext cx="550492" cy="485306"/>
          </a:xfrm>
          <a:custGeom>
            <a:avLst/>
            <a:gdLst>
              <a:gd name="T0" fmla="*/ 225 w 785"/>
              <a:gd name="T1" fmla="*/ 692 h 692"/>
              <a:gd name="T2" fmla="*/ 177 w 785"/>
              <a:gd name="T3" fmla="*/ 665 h 692"/>
              <a:gd name="T4" fmla="*/ 9 w 785"/>
              <a:gd name="T5" fmla="*/ 374 h 692"/>
              <a:gd name="T6" fmla="*/ 9 w 785"/>
              <a:gd name="T7" fmla="*/ 318 h 692"/>
              <a:gd name="T8" fmla="*/ 177 w 785"/>
              <a:gd name="T9" fmla="*/ 27 h 692"/>
              <a:gd name="T10" fmla="*/ 225 w 785"/>
              <a:gd name="T11" fmla="*/ 0 h 692"/>
              <a:gd name="T12" fmla="*/ 561 w 785"/>
              <a:gd name="T13" fmla="*/ 0 h 692"/>
              <a:gd name="T14" fmla="*/ 609 w 785"/>
              <a:gd name="T15" fmla="*/ 27 h 692"/>
              <a:gd name="T16" fmla="*/ 777 w 785"/>
              <a:gd name="T17" fmla="*/ 318 h 692"/>
              <a:gd name="T18" fmla="*/ 777 w 785"/>
              <a:gd name="T19" fmla="*/ 374 h 692"/>
              <a:gd name="T20" fmla="*/ 609 w 785"/>
              <a:gd name="T21" fmla="*/ 665 h 692"/>
              <a:gd name="T22" fmla="*/ 561 w 785"/>
              <a:gd name="T23" fmla="*/ 692 h 692"/>
              <a:gd name="T24" fmla="*/ 225 w 785"/>
              <a:gd name="T25" fmla="*/ 692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5" h="692">
                <a:moveTo>
                  <a:pt x="225" y="692"/>
                </a:moveTo>
                <a:cubicBezTo>
                  <a:pt x="207" y="692"/>
                  <a:pt x="185" y="680"/>
                  <a:pt x="177" y="665"/>
                </a:cubicBezTo>
                <a:cubicBezTo>
                  <a:pt x="9" y="374"/>
                  <a:pt x="9" y="374"/>
                  <a:pt x="9" y="374"/>
                </a:cubicBezTo>
                <a:cubicBezTo>
                  <a:pt x="0" y="358"/>
                  <a:pt x="0" y="334"/>
                  <a:pt x="9" y="318"/>
                </a:cubicBezTo>
                <a:cubicBezTo>
                  <a:pt x="177" y="27"/>
                  <a:pt x="177" y="27"/>
                  <a:pt x="177" y="27"/>
                </a:cubicBezTo>
                <a:cubicBezTo>
                  <a:pt x="185" y="12"/>
                  <a:pt x="207" y="0"/>
                  <a:pt x="225" y="0"/>
                </a:cubicBezTo>
                <a:cubicBezTo>
                  <a:pt x="561" y="0"/>
                  <a:pt x="561" y="0"/>
                  <a:pt x="561" y="0"/>
                </a:cubicBezTo>
                <a:cubicBezTo>
                  <a:pt x="578" y="0"/>
                  <a:pt x="600" y="12"/>
                  <a:pt x="609" y="27"/>
                </a:cubicBezTo>
                <a:cubicBezTo>
                  <a:pt x="777" y="318"/>
                  <a:pt x="777" y="318"/>
                  <a:pt x="777" y="318"/>
                </a:cubicBezTo>
                <a:cubicBezTo>
                  <a:pt x="785" y="334"/>
                  <a:pt x="785" y="358"/>
                  <a:pt x="777" y="374"/>
                </a:cubicBezTo>
                <a:cubicBezTo>
                  <a:pt x="609" y="665"/>
                  <a:pt x="609" y="665"/>
                  <a:pt x="609" y="665"/>
                </a:cubicBezTo>
                <a:cubicBezTo>
                  <a:pt x="600" y="680"/>
                  <a:pt x="578" y="692"/>
                  <a:pt x="561" y="692"/>
                </a:cubicBezTo>
                <a:lnTo>
                  <a:pt x="225" y="692"/>
                </a:lnTo>
                <a:close/>
              </a:path>
            </a:pathLst>
          </a:custGeom>
          <a:noFill/>
          <a:ln w="28575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3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1F44A-CB4B-4C7E-9E90-687037ED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en-US" sz="4000"/>
              <a:t>Graph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87098-7F8A-4E78-AA07-E46B09EF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Twitter is a perfect example of a graph database connecting 313 million monthly active users. In the illustration to the right, we have a small slice of Twitter users represented in a graph data model.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1DB86-3B0C-4C1C-A956-D072E7248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30" y="2445965"/>
            <a:ext cx="3217333" cy="253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7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CEF6C2F-9906-4F89-9B4F-598E9F344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747BD6F-5050-405B-8B07-1AF33B4C4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642938"/>
            <a:ext cx="5308600" cy="3275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E91501-2134-4152-8A94-1A42A885A094}"/>
              </a:ext>
            </a:extLst>
          </p:cNvPr>
          <p:cNvSpPr txBox="1"/>
          <p:nvPr/>
        </p:nvSpPr>
        <p:spPr>
          <a:xfrm>
            <a:off x="755650" y="3262313"/>
            <a:ext cx="5308600" cy="65405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>
                <a:solidFill>
                  <a:srgbClr val="FFFFFF"/>
                </a:solidFill>
              </a:rPr>
              <a:t>SQL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F2655A-F473-4B1D-BF4E-C26CA920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275" y="642938"/>
            <a:ext cx="5308600" cy="3275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383F96-22CA-4845-87F3-239BEC90EFDA}"/>
              </a:ext>
            </a:extLst>
          </p:cNvPr>
          <p:cNvSpPr txBox="1"/>
          <p:nvPr/>
        </p:nvSpPr>
        <p:spPr>
          <a:xfrm>
            <a:off x="6137275" y="3262313"/>
            <a:ext cx="5308600" cy="65405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82FBA-7881-4F25-A9BF-C3E86259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SQL vs NEO4j</a:t>
            </a:r>
          </a:p>
        </p:txBody>
      </p:sp>
    </p:spTree>
    <p:extLst>
      <p:ext uri="{BB962C8B-B14F-4D97-AF65-F5344CB8AC3E}">
        <p14:creationId xmlns:p14="http://schemas.microsoft.com/office/powerpoint/2010/main" val="297793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8BF7-23E6-4111-A02C-AA7B6AB4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vs NEO4j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DBEB9-1038-469C-B645-69347A16D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FD0606-B446-4CEA-A89E-DBE5C744E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NEO4j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90C381-ECEB-4E01-833C-563C144B4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26" y="2641599"/>
            <a:ext cx="5555461" cy="3548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9A5EB4-4888-42A2-BC2C-7AABF13B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104" y="2641599"/>
            <a:ext cx="4290432" cy="20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8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B0D883E-9A35-44EC-A070-222E3C18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52" y="1610024"/>
            <a:ext cx="3058621" cy="1457002"/>
          </a:xfrm>
        </p:spPr>
        <p:txBody>
          <a:bodyPr anchor="b">
            <a:normAutofit/>
          </a:bodyPr>
          <a:lstStyle/>
          <a:p>
            <a:r>
              <a:rPr lang="en-US" sz="4000"/>
              <a:t>Advantages of NEO4j</a:t>
            </a: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518649"/>
            <a:ext cx="1128382" cy="847206"/>
            <a:chOff x="8183879" y="1000124"/>
            <a:chExt cx="1562267" cy="1172973"/>
          </a:xfrm>
        </p:grpSpPr>
        <p:sp>
          <p:nvSpPr>
            <p:cNvPr id="2058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9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0BB495-7AFD-41C9-BC58-5FDB89A46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450" y="3067026"/>
            <a:ext cx="4106571" cy="3272324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Easy to Use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Visualization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Source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Fast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Support Network Algorism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Free Training and Certificate!</a:t>
            </a:r>
          </a:p>
        </p:txBody>
      </p:sp>
      <p:pic>
        <p:nvPicPr>
          <p:cNvPr id="2050" name="Picture 2" descr="https://s3.amazonaws.com/dev.assets.neo4j.com/wp-content/uploads/20191009131525/native-diagram.png">
            <a:extLst>
              <a:ext uri="{FF2B5EF4-FFF2-40B4-BE49-F238E27FC236}">
                <a16:creationId xmlns:a16="http://schemas.microsoft.com/office/drawing/2014/main" id="{2D89714E-F517-4FD6-92EA-AC2E8F8FB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2010" y="1779550"/>
            <a:ext cx="5974070" cy="34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44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FBD0F7-CE14-4BC7-B5CD-C64952B8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567843"/>
            <a:ext cx="3712224" cy="3714496"/>
          </a:xfrm>
        </p:spPr>
        <p:txBody>
          <a:bodyPr anchor="ctr">
            <a:normAutofit/>
          </a:bodyPr>
          <a:lstStyle/>
          <a:p>
            <a:r>
              <a:rPr lang="en-US" sz="4800"/>
              <a:t>Neo4j Use Case</a:t>
            </a:r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2C3846A5-A498-4C9E-B4DC-13532657D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5506" y="643467"/>
            <a:ext cx="1128382" cy="847206"/>
            <a:chOff x="8183879" y="1000124"/>
            <a:chExt cx="1562267" cy="117297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845FC1-FE68-40DE-B785-AA0F3DBD6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C26048ED-7A92-4694-A168-2C6C5C0D6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662A3FAA-D056-4098-8115-EA61EAF0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7645" y="839534"/>
            <a:ext cx="6781601" cy="5652388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3E77-888D-4BF4-B776-D2811E0A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7140" y="2096162"/>
            <a:ext cx="5084071" cy="26578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Fraud Detection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Knowledge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Network and Infrastructure Monitoring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Recommendation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Social Network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AI and Analytics</a:t>
            </a:r>
          </a:p>
        </p:txBody>
      </p:sp>
    </p:spTree>
    <p:extLst>
      <p:ext uri="{BB962C8B-B14F-4D97-AF65-F5344CB8AC3E}">
        <p14:creationId xmlns:p14="http://schemas.microsoft.com/office/powerpoint/2010/main" val="380895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Neo4j Sandbox Exploration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89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FA323E-47FD-6E16-28DF-21772CC62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712" y="365125"/>
            <a:ext cx="4475696" cy="6145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ED2067-EEC1-7314-1077-68B5D88E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database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646B-BCF2-CC81-9B1A-F432A084F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Go to </a:t>
            </a:r>
            <a:r>
              <a:rPr lang="en-CA" dirty="0">
                <a:hlinkClick r:id="rId3"/>
              </a:rPr>
              <a:t>http://52.70.34.0:7474/</a:t>
            </a:r>
            <a:endParaRPr lang="en-CA" dirty="0"/>
          </a:p>
          <a:p>
            <a:r>
              <a:rPr lang="en-CA" dirty="0"/>
              <a:t>Login with credential </a:t>
            </a:r>
          </a:p>
          <a:p>
            <a:pPr marL="0" indent="0">
              <a:buNone/>
            </a:pPr>
            <a:r>
              <a:rPr lang="en-CA" dirty="0"/>
              <a:t>	(</a:t>
            </a:r>
            <a:r>
              <a:rPr lang="en-CA" dirty="0">
                <a:solidFill>
                  <a:srgbClr val="FF0000"/>
                </a:solidFill>
              </a:rPr>
              <a:t>only valid before 2026-03-24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	Username: neo4j</a:t>
            </a:r>
          </a:p>
          <a:p>
            <a:pPr marL="0" indent="0">
              <a:buNone/>
            </a:pPr>
            <a:r>
              <a:rPr lang="en-CA" dirty="0"/>
              <a:t>	Password: </a:t>
            </a:r>
          </a:p>
          <a:p>
            <a:pPr marL="0" indent="0">
              <a:buNone/>
            </a:pPr>
            <a:r>
              <a:rPr lang="en-CA" dirty="0"/>
              <a:t>		laps-documentations-dissipation</a:t>
            </a:r>
          </a:p>
        </p:txBody>
      </p:sp>
    </p:spTree>
    <p:extLst>
      <p:ext uri="{BB962C8B-B14F-4D97-AF65-F5344CB8AC3E}">
        <p14:creationId xmlns:p14="http://schemas.microsoft.com/office/powerpoint/2010/main" val="393726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104D4-3E9B-4156-4B5A-DAF8781A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Exploration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F8348-ED49-951B-5513-DE50416DF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761" y="1439384"/>
            <a:ext cx="10091854" cy="5088212"/>
          </a:xfrm>
        </p:spPr>
      </p:pic>
    </p:spTree>
    <p:extLst>
      <p:ext uri="{BB962C8B-B14F-4D97-AF65-F5344CB8AC3E}">
        <p14:creationId xmlns:p14="http://schemas.microsoft.com/office/powerpoint/2010/main" val="416080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398E-D50A-4743-1031-BE5E93B5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Node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1239-7684-D772-E9F6-5DA118B0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Create a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MERGE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b="1" dirty="0"/>
              <a:t>Find your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/>
              <a:t>OR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.name = "your name"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b="1" dirty="0"/>
              <a:t>Find everyone: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b="1" dirty="0"/>
              <a:t>With a limit: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LIMIT</a:t>
            </a:r>
            <a:r>
              <a:rPr lang="en-US" dirty="0"/>
              <a:t> 5</a:t>
            </a:r>
          </a:p>
          <a:p>
            <a:pPr marL="0" indent="0">
              <a:buNone/>
            </a:pPr>
            <a:r>
              <a:rPr lang="en-US" b="1" dirty="0"/>
              <a:t>With a sort 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ORDER BY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.name </a:t>
            </a:r>
            <a:r>
              <a:rPr lang="en-US" dirty="0">
                <a:solidFill>
                  <a:schemeClr val="accent1"/>
                </a:solidFill>
              </a:rPr>
              <a:t>DESC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LIMIT</a:t>
            </a:r>
            <a:r>
              <a:rPr lang="en-US" dirty="0"/>
              <a:t>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776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7A5C-074E-9658-F383-C4E6E8AF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Query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953DF-FF9C-F000-989A-6BC9B4249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Create Relationship: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MATCHE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), (</a:t>
            </a:r>
            <a:r>
              <a:rPr lang="en-US" dirty="0" err="1"/>
              <a:t>c:Class</a:t>
            </a:r>
            <a:r>
              <a:rPr lang="en-US" dirty="0"/>
              <a:t>)  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s.name = "your name" </a:t>
            </a:r>
            <a:r>
              <a:rPr lang="en-US" dirty="0">
                <a:solidFill>
                  <a:schemeClr val="accent1"/>
                </a:solidFill>
              </a:rPr>
              <a:t>AND</a:t>
            </a:r>
            <a:r>
              <a:rPr lang="en-US" dirty="0"/>
              <a:t> c.name ='5P16’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MERGE</a:t>
            </a:r>
            <a:r>
              <a:rPr lang="en-US" dirty="0"/>
              <a:t> (s)-</a:t>
            </a:r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dirty="0" err="1">
                <a:solidFill>
                  <a:schemeClr val="accent2"/>
                </a:solidFill>
              </a:rPr>
              <a:t>e:ENROLLED_IN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r>
              <a:rPr lang="en-US" dirty="0"/>
              <a:t>-&gt;(c) 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s, c, e</a:t>
            </a:r>
          </a:p>
          <a:p>
            <a:pPr marL="0" indent="0">
              <a:buNone/>
            </a:pPr>
            <a:r>
              <a:rPr lang="en-US" b="1" dirty="0"/>
              <a:t>Search Relationship: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(s)-[</a:t>
            </a:r>
            <a:r>
              <a:rPr lang="en-US" dirty="0" err="1"/>
              <a:t>e:ENROLLED_IN</a:t>
            </a:r>
            <a:r>
              <a:rPr lang="en-US" dirty="0"/>
              <a:t>]-&gt;(</a:t>
            </a:r>
            <a:r>
              <a:rPr lang="en-US" dirty="0" err="1"/>
              <a:t>c:Class</a:t>
            </a:r>
            <a:r>
              <a:rPr lang="en-US" dirty="0"/>
              <a:t>) </a:t>
            </a:r>
          </a:p>
          <a:p>
            <a:pPr marL="457200" lvl="1" indent="0">
              <a:buNone/>
            </a:pPr>
            <a:r>
              <a:rPr lang="en-US" dirty="0"/>
              <a:t>     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c.name = '5P16’	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s, c, e</a:t>
            </a:r>
          </a:p>
          <a:p>
            <a:pPr marL="0" indent="0">
              <a:buNone/>
            </a:pPr>
            <a:r>
              <a:rPr lang="en-US" b="1" dirty="0"/>
              <a:t>OR for quick general search: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c:Class</a:t>
            </a:r>
            <a:r>
              <a:rPr lang="en-US" dirty="0"/>
              <a:t>)-[r]-(n) 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c.name = '5P16’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098136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0EB6-A905-941F-A691-DC71DF36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VS Match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C19E7-29CD-4993-EF3F-A10D428C3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Create a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CREATE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</a:t>
            </a:r>
          </a:p>
          <a:p>
            <a:pPr marL="0" indent="0">
              <a:buNone/>
            </a:pPr>
            <a:r>
              <a:rPr lang="en-US" b="1" dirty="0"/>
              <a:t>Check result: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</a:t>
            </a:r>
          </a:p>
          <a:p>
            <a:pPr marL="0" indent="0">
              <a:buNone/>
            </a:pPr>
            <a:r>
              <a:rPr lang="en-US" b="1" dirty="0"/>
              <a:t>Add attribute to a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 MATCH </a:t>
            </a:r>
            <a:r>
              <a:rPr lang="en-US" dirty="0"/>
              <a:t>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               SET</a:t>
            </a:r>
            <a:r>
              <a:rPr lang="en-US" dirty="0"/>
              <a:t> </a:t>
            </a:r>
            <a:r>
              <a:rPr lang="en-US" dirty="0" err="1"/>
              <a:t>s.email</a:t>
            </a:r>
            <a:r>
              <a:rPr lang="en-US" dirty="0"/>
              <a:t> = 'yourname2@brocku.ca’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          RETURN</a:t>
            </a:r>
            <a:r>
              <a:rPr lang="en-US" dirty="0"/>
              <a:t> s</a:t>
            </a:r>
          </a:p>
          <a:p>
            <a:pPr marL="0" indent="0">
              <a:buNone/>
            </a:pPr>
            <a:r>
              <a:rPr lang="en-US" b="1" dirty="0"/>
              <a:t>How to improve:</a:t>
            </a:r>
          </a:p>
          <a:p>
            <a:pPr marL="0" indent="0">
              <a:buNone/>
            </a:pPr>
            <a:r>
              <a:rPr lang="en-US" dirty="0"/>
              <a:t>	1. Use merge instead of create</a:t>
            </a:r>
          </a:p>
          <a:p>
            <a:pPr marL="0" indent="0">
              <a:buNone/>
            </a:pPr>
            <a:r>
              <a:rPr lang="en-US" dirty="0"/>
              <a:t>	2. Create unique index: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/>
                </a:solidFill>
              </a:rPr>
              <a:t>CREATE CONSTRAINT </a:t>
            </a:r>
            <a:r>
              <a:rPr lang="en-US" i="1" dirty="0" err="1"/>
              <a:t>unique_student_email</a:t>
            </a:r>
            <a:r>
              <a:rPr lang="en-US" i="1" dirty="0"/>
              <a:t> </a:t>
            </a:r>
            <a:r>
              <a:rPr lang="en-US" i="1" dirty="0">
                <a:solidFill>
                  <a:schemeClr val="accent1"/>
                </a:solidFill>
              </a:rPr>
              <a:t>IF NOT EXISTS FOR </a:t>
            </a:r>
            <a:r>
              <a:rPr lang="en-US" i="1" dirty="0"/>
              <a:t>(</a:t>
            </a:r>
            <a:r>
              <a:rPr lang="en-US" i="1" dirty="0" err="1"/>
              <a:t>s:Student</a:t>
            </a:r>
            <a:r>
              <a:rPr lang="en-US" i="1" dirty="0"/>
              <a:t>) </a:t>
            </a:r>
            <a:r>
              <a:rPr lang="en-US" i="1" dirty="0">
                <a:solidFill>
                  <a:schemeClr val="accent1"/>
                </a:solidFill>
              </a:rPr>
              <a:t>REQUIRE</a:t>
            </a:r>
            <a:r>
              <a:rPr lang="en-US" i="1" dirty="0"/>
              <a:t> </a:t>
            </a:r>
            <a:r>
              <a:rPr lang="en-US" i="1" dirty="0" err="1"/>
              <a:t>s.email</a:t>
            </a:r>
            <a:r>
              <a:rPr lang="en-US" i="1" dirty="0"/>
              <a:t> </a:t>
            </a:r>
            <a:r>
              <a:rPr lang="en-US" i="1" dirty="0">
                <a:solidFill>
                  <a:schemeClr val="accent1"/>
                </a:solidFill>
              </a:rPr>
              <a:t>IS UNIQUE</a:t>
            </a:r>
            <a:r>
              <a:rPr lang="en-US" i="1" dirty="0"/>
              <a:t>;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274190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8218-AD7B-6F8C-47CD-F36015CE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01B65-E94C-5695-AAA9-1E08D36B0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Always check before you delete (IMPORTANT!)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) </a:t>
            </a:r>
            <a:r>
              <a:rPr lang="en-US" dirty="0">
                <a:solidFill>
                  <a:srgbClr val="0070C0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elementId</a:t>
            </a:r>
            <a:r>
              <a:rPr lang="en-US" dirty="0"/>
              <a:t>(s) = ' The id from previous' RETURN 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When everything confirmed: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>
                <a:solidFill>
                  <a:srgbClr val="0070C0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) </a:t>
            </a:r>
            <a:r>
              <a:rPr lang="en-US" dirty="0">
                <a:solidFill>
                  <a:srgbClr val="0070C0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elementId</a:t>
            </a:r>
            <a:r>
              <a:rPr lang="en-US" dirty="0"/>
              <a:t>(s) = ' The id from previous’  </a:t>
            </a:r>
            <a:r>
              <a:rPr lang="en-US" dirty="0">
                <a:solidFill>
                  <a:srgbClr val="0070C0"/>
                </a:solidFill>
              </a:rPr>
              <a:t>DETACH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 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Verify the result:</a:t>
            </a:r>
          </a:p>
          <a:p>
            <a:pPr marL="0" indent="0">
              <a:buNone/>
            </a:pPr>
            <a:r>
              <a:rPr lang="en-US" dirty="0"/>
              <a:t>	 match 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return s</a:t>
            </a:r>
          </a:p>
        </p:txBody>
      </p:sp>
    </p:spTree>
    <p:extLst>
      <p:ext uri="{BB962C8B-B14F-4D97-AF65-F5344CB8AC3E}">
        <p14:creationId xmlns:p14="http://schemas.microsoft.com/office/powerpoint/2010/main" val="3871877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FD72B3-93B6-A6F2-0CAE-F4839BC22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357" y="1960561"/>
            <a:ext cx="4506334" cy="435133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39B613-1FEA-7EE9-F5B3-86E1B9FF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Create Your own</a:t>
            </a:r>
            <a:r>
              <a:rPr lang="en-US" dirty="0"/>
              <a:t> Sandbox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EAD62B-7660-4B29-26DB-E30EE76C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3"/>
              </a:rPr>
              <a:t>https://neo4j.com/sandbox/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6E54B-B130-6758-92F7-FF61C1E5A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5" y="2393857"/>
            <a:ext cx="7566212" cy="378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40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626E8-ED3D-977A-E438-8125F745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a prebuild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9996-F5F7-3B50-40BD-B2D8DFD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Movies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71816-60CB-7B0A-F297-207E62075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859" y="1520824"/>
            <a:ext cx="4745635" cy="512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96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78CE-1C2E-F675-A255-3966BA2E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your project life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03BF92-AE64-803B-E9A2-7FCC8A290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305" y="1883704"/>
            <a:ext cx="7113495" cy="4817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7BA098-F13C-DEAE-940C-10132958309F}"/>
              </a:ext>
            </a:extLst>
          </p:cNvPr>
          <p:cNvSpPr txBox="1"/>
          <p:nvPr/>
        </p:nvSpPr>
        <p:spPr>
          <a:xfrm>
            <a:off x="1021977" y="2188658"/>
            <a:ext cx="30722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By default, the project only lasts for 3 days, but you can extend it for another 7 days.</a:t>
            </a:r>
          </a:p>
        </p:txBody>
      </p:sp>
    </p:spTree>
    <p:extLst>
      <p:ext uri="{BB962C8B-B14F-4D97-AF65-F5344CB8AC3E}">
        <p14:creationId xmlns:p14="http://schemas.microsoft.com/office/powerpoint/2010/main" val="3190300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7CE2-CD12-5497-25BE-7B7178DC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 your database with your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F37D-5EDF-ADC0-CC74-C5172DC54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3772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 to Connection details</a:t>
            </a:r>
          </a:p>
          <a:p>
            <a:r>
              <a:rPr lang="en-US" dirty="0"/>
              <a:t>Record those </a:t>
            </a:r>
            <a:r>
              <a:rPr lang="en-US" dirty="0" err="1"/>
              <a:t>infomation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Username</a:t>
            </a:r>
          </a:p>
          <a:p>
            <a:pPr lvl="1"/>
            <a:r>
              <a:rPr lang="en-US" dirty="0"/>
              <a:t>Password</a:t>
            </a:r>
          </a:p>
          <a:p>
            <a:pPr lvl="1"/>
            <a:r>
              <a:rPr lang="en-US" dirty="0"/>
              <a:t>IP address</a:t>
            </a:r>
          </a:p>
          <a:p>
            <a:pPr lvl="1"/>
            <a:r>
              <a:rPr lang="en-US" dirty="0"/>
              <a:t>Http Port</a:t>
            </a:r>
          </a:p>
          <a:p>
            <a:pPr lvl="1"/>
            <a:endParaRPr lang="en-US" dirty="0"/>
          </a:p>
          <a:p>
            <a:r>
              <a:rPr lang="en-US" dirty="0"/>
              <a:t>Use browser to open it http://{ip address}:{port} </a:t>
            </a:r>
          </a:p>
          <a:p>
            <a:pPr marL="0" indent="0">
              <a:buNone/>
            </a:pPr>
            <a:r>
              <a:rPr lang="en-US" dirty="0"/>
              <a:t>e.g. </a:t>
            </a:r>
            <a:r>
              <a:rPr lang="en-US" dirty="0">
                <a:hlinkClick r:id="rId2"/>
              </a:rPr>
              <a:t>http://3.239.62.47:7474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5D980-0309-FC44-7995-1AE3B175C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11" y="1918447"/>
            <a:ext cx="5156435" cy="46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2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6E6F-83A6-DCB1-0373-2B38CC6C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Tutorials in Sandbox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CCB95-10CC-38A3-7452-373247C6E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753" cy="4351338"/>
          </a:xfrm>
        </p:spPr>
        <p:txBody>
          <a:bodyPr/>
          <a:lstStyle/>
          <a:p>
            <a:r>
              <a:rPr lang="en-US" dirty="0"/>
              <a:t>Sandboxes provide tutorials to help you understand how neo4j works</a:t>
            </a:r>
          </a:p>
          <a:p>
            <a:r>
              <a:rPr lang="en-US" dirty="0"/>
              <a:t>You can also view their documentation as well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https://neo4j.com/docs/cypher-manual/current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8E661-E0B9-C1B9-3942-DAD7D593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779" y="1549698"/>
            <a:ext cx="6705600" cy="34312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C7B8B0-F6CD-6B2B-86AF-65AB9CBE9382}"/>
              </a:ext>
            </a:extLst>
          </p:cNvPr>
          <p:cNvSpPr txBox="1"/>
          <p:nvPr/>
        </p:nvSpPr>
        <p:spPr>
          <a:xfrm>
            <a:off x="5197779" y="5196469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NOTE</a:t>
            </a:r>
            <a:r>
              <a:rPr lang="en-US" i="1" dirty="0">
                <a:solidFill>
                  <a:srgbClr val="FF0000"/>
                </a:solidFill>
              </a:rPr>
              <a:t>: Currently the neo4j sandbox still using the old browser, the </a:t>
            </a:r>
            <a:r>
              <a:rPr lang="en-US" i="1" dirty="0" err="1">
                <a:solidFill>
                  <a:srgbClr val="FF0000"/>
                </a:solidFill>
              </a:rPr>
              <a:t>swiching</a:t>
            </a:r>
            <a:r>
              <a:rPr lang="en-US" i="1" dirty="0">
                <a:solidFill>
                  <a:srgbClr val="FF0000"/>
                </a:solidFill>
              </a:rPr>
              <a:t> to new browser sometimes not working. Use http:// + </a:t>
            </a:r>
            <a:r>
              <a:rPr lang="en-US" i="1" dirty="0" err="1">
                <a:solidFill>
                  <a:srgbClr val="FF0000"/>
                </a:solidFill>
              </a:rPr>
              <a:t>ip</a:t>
            </a:r>
            <a:r>
              <a:rPr lang="en-US" i="1" dirty="0">
                <a:solidFill>
                  <a:srgbClr val="FF0000"/>
                </a:solidFill>
              </a:rPr>
              <a:t> from credential to use the new browser.</a:t>
            </a:r>
            <a:r>
              <a:rPr lang="en-CA" i="1" dirty="0">
                <a:solidFill>
                  <a:srgbClr val="FF0000"/>
                </a:solidFill>
              </a:rPr>
              <a:t> The old browser also works well, just GUI looks different.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84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Build your own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112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E80C-5C16-A7FE-CE7C-B1FB37E5A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178" y="156954"/>
            <a:ext cx="8674912" cy="1461778"/>
          </a:xfrm>
        </p:spPr>
        <p:txBody>
          <a:bodyPr>
            <a:normAutofit/>
          </a:bodyPr>
          <a:lstStyle/>
          <a:p>
            <a:r>
              <a:rPr lang="en-US" sz="4000" dirty="0"/>
              <a:t>Load data with Neo4j data importer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B9D4F-800E-ABF3-7A23-17E94ABE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901" y="1627882"/>
            <a:ext cx="3881699" cy="4885934"/>
          </a:xfrm>
        </p:spPr>
        <p:txBody>
          <a:bodyPr>
            <a:normAutofit/>
          </a:bodyPr>
          <a:lstStyle/>
          <a:p>
            <a:r>
              <a:rPr lang="en-CA" sz="2000" dirty="0"/>
              <a:t>Step 0 Create a blank database</a:t>
            </a:r>
          </a:p>
          <a:p>
            <a:r>
              <a:rPr lang="en-CA" sz="2000" dirty="0"/>
              <a:t>Step 1 Download data:</a:t>
            </a:r>
            <a:endParaRPr lang="en-CA" sz="2000" dirty="0">
              <a:hlinkClick r:id="rId2"/>
            </a:endParaRPr>
          </a:p>
          <a:p>
            <a:pPr marL="457200" lvl="1" indent="0">
              <a:buNone/>
            </a:pPr>
            <a:r>
              <a:rPr lang="en-CA" sz="1600" dirty="0">
                <a:solidFill>
                  <a:srgbClr val="0070C0"/>
                </a:solidFill>
                <a:hlinkClick r:id="rId3"/>
              </a:rPr>
              <a:t>https://github.com/Goodman-School/GraphDatabase/raw/main/data/W3Cnorthwind.zip</a:t>
            </a:r>
            <a:endParaRPr lang="en-CA" sz="16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CA" sz="1600" dirty="0">
              <a:solidFill>
                <a:srgbClr val="0070C0"/>
              </a:solidFill>
            </a:endParaRPr>
          </a:p>
          <a:p>
            <a:r>
              <a:rPr lang="en-CA" sz="2000" dirty="0"/>
              <a:t>Step 2 find your </a:t>
            </a:r>
            <a:r>
              <a:rPr lang="en-CA" sz="2000" dirty="0" err="1"/>
              <a:t>db</a:t>
            </a:r>
            <a:r>
              <a:rPr lang="en-CA" sz="2000" dirty="0"/>
              <a:t> credentials</a:t>
            </a:r>
          </a:p>
          <a:p>
            <a:pPr marL="457200" lvl="1" indent="0">
              <a:buNone/>
            </a:pPr>
            <a:r>
              <a:rPr lang="en-CA" sz="1600" dirty="0">
                <a:hlinkClick r:id="rId4"/>
              </a:rPr>
              <a:t>https://sandbox.neo4j.com/</a:t>
            </a:r>
            <a:r>
              <a:rPr lang="en-CA" sz="1600" dirty="0"/>
              <a:t> </a:t>
            </a:r>
          </a:p>
          <a:p>
            <a:pPr marL="457200" lvl="1" indent="0">
              <a:buNone/>
            </a:pPr>
            <a:endParaRPr lang="en-CA" sz="1600" dirty="0"/>
          </a:p>
          <a:p>
            <a:r>
              <a:rPr lang="en-CA" sz="2000" dirty="0"/>
              <a:t>Step 3 Load data </a:t>
            </a:r>
          </a:p>
          <a:p>
            <a:pPr lvl="1"/>
            <a:r>
              <a:rPr lang="en-CA" sz="1600" dirty="0"/>
              <a:t>Data importer:</a:t>
            </a:r>
            <a:endParaRPr lang="en-CA" sz="1600" dirty="0">
              <a:hlinkClick r:id="rId2"/>
            </a:endParaRPr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9BF2D-39F7-83D1-A4C6-58C14D9EA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118334"/>
            <a:ext cx="7409234" cy="2966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236FD-C5CF-D498-DB52-22BA8FCF4422}"/>
              </a:ext>
            </a:extLst>
          </p:cNvPr>
          <p:cNvSpPr txBox="1"/>
          <p:nvPr/>
        </p:nvSpPr>
        <p:spPr>
          <a:xfrm>
            <a:off x="786706" y="5093870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https://data-importer.neo4j.io/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484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99E7-1B22-E265-49FC-EC22CD65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52" y="1610024"/>
            <a:ext cx="3058621" cy="3734366"/>
          </a:xfrm>
        </p:spPr>
        <p:txBody>
          <a:bodyPr anchor="b">
            <a:normAutofit/>
          </a:bodyPr>
          <a:lstStyle/>
          <a:p>
            <a:r>
              <a:rPr lang="en-US" sz="3700" dirty="0"/>
              <a:t>Upload files and add nodes</a:t>
            </a:r>
            <a:br>
              <a:rPr lang="en-US" sz="3700" dirty="0"/>
            </a:br>
            <a:br>
              <a:rPr lang="en-CA" sz="4000" dirty="0"/>
            </a:br>
            <a:endParaRPr lang="en-US" sz="3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F77A62-4CA3-79B5-4F5C-A74B29EEC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073" y="1839582"/>
            <a:ext cx="7660240" cy="373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28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99E7-1B22-E265-49FC-EC22CD65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160" y="4376508"/>
            <a:ext cx="9623404" cy="12572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 more nodes and relationships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62EBF-A9F8-CB53-6749-A345D6C11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55" y="891540"/>
            <a:ext cx="9393671" cy="3217333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5034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2F902-0A2D-8E5E-EE8D-36C036AC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52" y="1610024"/>
            <a:ext cx="3058621" cy="1457002"/>
          </a:xfrm>
        </p:spPr>
        <p:txBody>
          <a:bodyPr anchor="b">
            <a:normAutofit/>
          </a:bodyPr>
          <a:lstStyle/>
          <a:p>
            <a:r>
              <a:rPr lang="en-US" sz="4000"/>
              <a:t>Graph Schema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518649"/>
            <a:ext cx="1128382" cy="847206"/>
            <a:chOff x="8183879" y="1000124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C3A4-4E78-829D-EA00-63FAE582D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65" y="3326351"/>
            <a:ext cx="3727193" cy="327232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2000" dirty="0">
                <a:solidFill>
                  <a:srgbClr val="0070C0"/>
                </a:solidFill>
              </a:rPr>
              <a:t>call </a:t>
            </a:r>
            <a:r>
              <a:rPr lang="en-CA" sz="2000" dirty="0" err="1">
                <a:solidFill>
                  <a:srgbClr val="0070C0"/>
                </a:solidFill>
              </a:rPr>
              <a:t>db.schema.visualization</a:t>
            </a:r>
            <a:r>
              <a:rPr lang="en-CA" sz="2000" dirty="0">
                <a:solidFill>
                  <a:srgbClr val="0070C0"/>
                </a:solidFill>
              </a:rPr>
              <a:t>()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529BB9-1AB1-ACA0-228C-19A092F8A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065" y="2317216"/>
            <a:ext cx="5974070" cy="24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11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A297-B51D-7071-40C5-9439D64E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Official Tutorial (Northwind 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C3448-9ECA-A521-7531-2D99DDB6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https://neo4j.com/developer/guide-importing-data-and-etl/</a:t>
            </a:r>
            <a:r>
              <a:rPr lang="en-US" dirty="0"/>
              <a:t> </a:t>
            </a:r>
          </a:p>
        </p:txBody>
      </p:sp>
      <p:pic>
        <p:nvPicPr>
          <p:cNvPr id="1026" name="Picture 2" descr="Northwind diagram">
            <a:extLst>
              <a:ext uri="{FF2B5EF4-FFF2-40B4-BE49-F238E27FC236}">
                <a16:creationId xmlns:a16="http://schemas.microsoft.com/office/drawing/2014/main" id="{4424F6E5-EF62-A8A3-4307-E3759EFE8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85" y="2559194"/>
            <a:ext cx="5294912" cy="393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228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E80C-5C16-A7FE-CE7C-B1FB37E5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 online data with query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093E409-8E81-919D-2C3A-02DA950E1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1167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4203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learning resources</a:t>
            </a:r>
          </a:p>
        </p:txBody>
      </p:sp>
    </p:spTree>
    <p:extLst>
      <p:ext uri="{BB962C8B-B14F-4D97-AF65-F5344CB8AC3E}">
        <p14:creationId xmlns:p14="http://schemas.microsoft.com/office/powerpoint/2010/main" val="1982754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D940-85A2-4282-AC2B-77D18AFA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 more advanced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40FF-D266-483C-A263-934656780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5726"/>
            <a:ext cx="10515599" cy="4206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 the sanbox demo (Crime detection)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F91FF-54CB-7636-9467-9FFAFB07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47" y="1863801"/>
            <a:ext cx="8837304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7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D6D5-E2BE-2C80-7D1F-14FC7C8E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Certificates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480FC-2D3F-0D23-38A8-EB44F4274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https://graphacademy.neo4j.com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44823-561D-8CD8-866D-0E96DFF78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47257"/>
            <a:ext cx="10839454" cy="408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0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7DBFA-EE44-4B54-B17E-171EF3C6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Learning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3F50-2E6F-4E3E-A582-89AA8F9FE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Neo4j </a:t>
            </a:r>
            <a:r>
              <a:rPr lang="en-US" dirty="0">
                <a:hlinkClick r:id="rId2"/>
              </a:rPr>
              <a:t>https://neo4j.com/download/?ref=product</a:t>
            </a:r>
            <a:endParaRPr lang="en-US" dirty="0"/>
          </a:p>
          <a:p>
            <a:r>
              <a:rPr lang="en-US" dirty="0"/>
              <a:t>Use Neo4j on </a:t>
            </a:r>
            <a:r>
              <a:rPr lang="en-US" dirty="0" err="1"/>
              <a:t>sanbox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https://neo4j.com/sandbox/</a:t>
            </a:r>
            <a:endParaRPr lang="en-US" dirty="0"/>
          </a:p>
          <a:p>
            <a:r>
              <a:rPr lang="en-US" dirty="0"/>
              <a:t>Neo4j data importer </a:t>
            </a:r>
            <a:r>
              <a:rPr lang="en-US" dirty="0">
                <a:hlinkClick r:id="rId4"/>
              </a:rPr>
              <a:t>https://data-importer.neo4j.io/versions/latest/</a:t>
            </a:r>
            <a:r>
              <a:rPr lang="en-US" dirty="0"/>
              <a:t> </a:t>
            </a:r>
          </a:p>
          <a:p>
            <a:r>
              <a:rPr lang="en-US" dirty="0"/>
              <a:t>Free official </a:t>
            </a:r>
            <a:r>
              <a:rPr lang="en-US" dirty="0" err="1"/>
              <a:t>ebooks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https://neo4j.com/books/</a:t>
            </a:r>
            <a:endParaRPr lang="en-US" dirty="0"/>
          </a:p>
          <a:p>
            <a:r>
              <a:rPr lang="en-US" dirty="0"/>
              <a:t>Get Certificate </a:t>
            </a:r>
            <a:r>
              <a:rPr lang="en-US" dirty="0">
                <a:hlinkClick r:id="rId6"/>
              </a:rPr>
              <a:t>https://neo4j.com/graphacademy/neo4j-certification/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1069</Words>
  <Application>Microsoft Office PowerPoint</Application>
  <PresentationFormat>Widescreen</PresentationFormat>
  <Paragraphs>170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Graph Database --Neo4j Updated 2025-11</vt:lpstr>
      <vt:lpstr>Content</vt:lpstr>
      <vt:lpstr>Part 1</vt:lpstr>
      <vt:lpstr>Graph Database</vt:lpstr>
      <vt:lpstr>Graph Database</vt:lpstr>
      <vt:lpstr>SQL vs NEO4j</vt:lpstr>
      <vt:lpstr>SQL vs NEO4j</vt:lpstr>
      <vt:lpstr>Advantages of NEO4j</vt:lpstr>
      <vt:lpstr>Neo4j Use Case</vt:lpstr>
      <vt:lpstr>Part 2</vt:lpstr>
      <vt:lpstr>Connect to database</vt:lpstr>
      <vt:lpstr>Simple Exploration</vt:lpstr>
      <vt:lpstr>Basic Node Queries</vt:lpstr>
      <vt:lpstr>Relationship Query</vt:lpstr>
      <vt:lpstr>Create VS Match</vt:lpstr>
      <vt:lpstr>Delete Node</vt:lpstr>
      <vt:lpstr>Create Your own Sandbox</vt:lpstr>
      <vt:lpstr>Choose a prebuild database</vt:lpstr>
      <vt:lpstr>Extend your project life</vt:lpstr>
      <vt:lpstr>Share your database with your team</vt:lpstr>
      <vt:lpstr>Built-in Tutorials in Sandbox</vt:lpstr>
      <vt:lpstr>Part 3</vt:lpstr>
      <vt:lpstr>Load data with Neo4j data importer</vt:lpstr>
      <vt:lpstr>Upload files and add nodes  </vt:lpstr>
      <vt:lpstr>Add more nodes and relationships</vt:lpstr>
      <vt:lpstr>Graph Schema</vt:lpstr>
      <vt:lpstr>Official Tutorial (Northwind DB)</vt:lpstr>
      <vt:lpstr>Load online data with query</vt:lpstr>
      <vt:lpstr>Part 4</vt:lpstr>
      <vt:lpstr>Learn more advanced technology</vt:lpstr>
      <vt:lpstr>NEO4J Certificates</vt:lpstr>
      <vt:lpstr>Appendix: Learning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Database Neo4j</dc:title>
  <dc:creator>Zhengang Dai</dc:creator>
  <cp:lastModifiedBy>Zack Dai</cp:lastModifiedBy>
  <cp:revision>35</cp:revision>
  <dcterms:created xsi:type="dcterms:W3CDTF">2019-11-02T00:21:47Z</dcterms:created>
  <dcterms:modified xsi:type="dcterms:W3CDTF">2026-03-07T19:55:14Z</dcterms:modified>
</cp:coreProperties>
</file>